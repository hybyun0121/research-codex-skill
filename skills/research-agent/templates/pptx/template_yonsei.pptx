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Gothic A1 SemiBold"/>
      <p:regular r:id="rId9"/>
      <p:bold r:id="rId10"/>
    </p:embeddedFont>
    <p:embeddedFont>
      <p:font typeface="Gothic A1"/>
      <p:regular r:id="rId11"/>
      <p:bold r:id="rId12"/>
    </p:embeddedFont>
    <p:embeddedFont>
      <p:font typeface="Open Sans SemiBold"/>
      <p:regular r:id="rId13"/>
      <p:bold r:id="rId14"/>
      <p:italic r:id="rId15"/>
      <p:boldItalic r:id="rId16"/>
    </p:embeddedFont>
    <p:embeddedFont>
      <p:font typeface="Gothic A1 Medium"/>
      <p:regular r:id="rId17"/>
      <p:bold r:id="rId18"/>
    </p:embeddedFont>
    <p:embeddedFont>
      <p:font typeface="Gothic A1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thicA1-regular.fntdata"/><Relationship Id="rId10" Type="http://schemas.openxmlformats.org/officeDocument/2006/relationships/font" Target="fonts/GothicA1SemiBold-bold.fntdata"/><Relationship Id="rId13" Type="http://schemas.openxmlformats.org/officeDocument/2006/relationships/font" Target="fonts/OpenSansSemiBold-regular.fntdata"/><Relationship Id="rId12" Type="http://schemas.openxmlformats.org/officeDocument/2006/relationships/font" Target="fonts/GothicA1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othicA1SemiBold-regular.fntdata"/><Relationship Id="rId15" Type="http://schemas.openxmlformats.org/officeDocument/2006/relationships/font" Target="fonts/OpenSansSemiBold-italic.fntdata"/><Relationship Id="rId14" Type="http://schemas.openxmlformats.org/officeDocument/2006/relationships/font" Target="fonts/OpenSansSemiBold-bold.fntdata"/><Relationship Id="rId17" Type="http://schemas.openxmlformats.org/officeDocument/2006/relationships/font" Target="fonts/GothicA1Medium-regular.fntdata"/><Relationship Id="rId16" Type="http://schemas.openxmlformats.org/officeDocument/2006/relationships/font" Target="fonts/OpenSans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GothicA1ExtraBold-bold.fntdata"/><Relationship Id="rId6" Type="http://schemas.openxmlformats.org/officeDocument/2006/relationships/slide" Target="slides/slide1.xml"/><Relationship Id="rId18" Type="http://schemas.openxmlformats.org/officeDocument/2006/relationships/font" Target="fonts/GothicA1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37b4b107d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237b4b107d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37b4b107d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37b4b107d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37b4b107d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37b4b107d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85562"/>
            <a:ext cx="85206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4785"/>
              </a:buClr>
              <a:buSzPts val="4000"/>
              <a:buFont typeface="Gothic A1 ExtraBold"/>
              <a:buNone/>
              <a:defRPr sz="4000">
                <a:solidFill>
                  <a:srgbClr val="004785"/>
                </a:solidFill>
                <a:latin typeface="Gothic A1 ExtraBold"/>
                <a:ea typeface="Gothic A1 ExtraBold"/>
                <a:cs typeface="Gothic A1 ExtraBold"/>
                <a:sym typeface="Gothic A1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561013"/>
            <a:ext cx="85206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85"/>
              </a:buClr>
              <a:buSzPts val="2400"/>
              <a:buFont typeface="Gothic A1 SemiBold"/>
              <a:buNone/>
              <a:defRPr sz="2400">
                <a:solidFill>
                  <a:srgbClr val="004785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9000" y="-59000"/>
            <a:ext cx="9187500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750" y="512125"/>
            <a:ext cx="9172999" cy="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500" y="4907800"/>
            <a:ext cx="9172999" cy="2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95308" y="4826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6" name="Google Shape;16;p2"/>
          <p:cNvSpPr txBox="1"/>
          <p:nvPr/>
        </p:nvSpPr>
        <p:spPr>
          <a:xfrm>
            <a:off x="895050" y="-148875"/>
            <a:ext cx="8248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Department of Applied Stati</a:t>
            </a:r>
            <a:r>
              <a:rPr b="1" lang="ko"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stics, </a:t>
            </a:r>
            <a:r>
              <a:rPr b="1" lang="ko"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Statistics and Data Science,</a:t>
            </a:r>
            <a:r>
              <a:rPr b="1" lang="ko"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 Yonsei University</a:t>
            </a:r>
            <a:endParaRPr b="1" sz="1600"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Machine Learning and Artificial Intelli</a:t>
            </a:r>
            <a:r>
              <a:rPr b="1" lang="ko" sz="1600">
                <a:solidFill>
                  <a:srgbClr val="FFFFFF"/>
                </a:solidFill>
                <a:latin typeface="Gothic A1"/>
                <a:ea typeface="Gothic A1"/>
                <a:cs typeface="Gothic A1"/>
                <a:sym typeface="Gothic A1"/>
              </a:rPr>
              <a:t>gence Lab</a:t>
            </a:r>
            <a:endParaRPr b="1" sz="1600">
              <a:solidFill>
                <a:srgbClr val="FFFFFF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7" name="Google Shape;17;p2"/>
          <p:cNvSpPr txBox="1"/>
          <p:nvPr>
            <p:ph idx="2" type="ctrTitle"/>
          </p:nvPr>
        </p:nvSpPr>
        <p:spPr>
          <a:xfrm>
            <a:off x="3284300" y="3174425"/>
            <a:ext cx="5859600" cy="16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004785"/>
              </a:buClr>
              <a:buSzPts val="2800"/>
              <a:buFont typeface="Gothic A1 SemiBold"/>
              <a:buNone/>
              <a:defRPr>
                <a:solidFill>
                  <a:srgbClr val="004785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200"/>
              <a:buFont typeface="Gothic A1"/>
              <a:buNone/>
              <a:defRPr sz="4200"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3" type="subTitle"/>
          </p:nvPr>
        </p:nvSpPr>
        <p:spPr>
          <a:xfrm>
            <a:off x="0" y="700325"/>
            <a:ext cx="50055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785"/>
              </a:buClr>
              <a:buSzPts val="2400"/>
              <a:buFont typeface="Gothic A1 Medium"/>
              <a:buNone/>
              <a:defRPr sz="2400">
                <a:solidFill>
                  <a:srgbClr val="004785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Gothic A1"/>
              <a:buNone/>
              <a:defRPr sz="2800"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19" name="Google Shape;19;p2"/>
          <p:cNvSpPr txBox="1"/>
          <p:nvPr/>
        </p:nvSpPr>
        <p:spPr>
          <a:xfrm>
            <a:off x="-28950" y="4841725"/>
            <a:ext cx="91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Name, Yonsei University</a:t>
            </a:r>
            <a:endParaRPr sz="1200">
              <a:solidFill>
                <a:srgbClr val="FFFFFF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0" y="3632875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4785"/>
              </a:buClr>
              <a:buSzPts val="3600"/>
              <a:buFont typeface="Gothic A1 ExtraBold"/>
              <a:buNone/>
              <a:defRPr sz="3600">
                <a:solidFill>
                  <a:srgbClr val="004785"/>
                </a:solidFill>
                <a:latin typeface="Gothic A1 ExtraBold"/>
                <a:ea typeface="Gothic A1 ExtraBold"/>
                <a:cs typeface="Gothic A1 ExtraBold"/>
                <a:sym typeface="Gothic A1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Gothic A1"/>
              <a:buNone/>
              <a:defRPr sz="3600"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500" y="4907800"/>
            <a:ext cx="9172999" cy="2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595308" y="4826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000" y="-59000"/>
            <a:ext cx="9187500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750" y="512125"/>
            <a:ext cx="9172999" cy="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-28950" y="4841725"/>
            <a:ext cx="91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Name, Yonsei University</a:t>
            </a:r>
            <a:endParaRPr sz="1200">
              <a:solidFill>
                <a:srgbClr val="FFFFFF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128825" y="828125"/>
            <a:ext cx="8879100" cy="39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Gothic A1 Medium"/>
              <a:buChar char="●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○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■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●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○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■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●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○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Gothic A1 Medium"/>
              <a:buChar char="■"/>
              <a:defRPr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500" y="4907800"/>
            <a:ext cx="9172999" cy="2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95308" y="4826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buNone/>
              <a:defRPr sz="12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000" y="-59000"/>
            <a:ext cx="9187500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1750" y="512125"/>
            <a:ext cx="9172999" cy="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type="title"/>
          </p:nvPr>
        </p:nvSpPr>
        <p:spPr>
          <a:xfrm>
            <a:off x="-76200" y="-40550"/>
            <a:ext cx="9234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b="1"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thic A1"/>
              <a:buNone/>
              <a:defRPr sz="2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2" type="title"/>
          </p:nvPr>
        </p:nvSpPr>
        <p:spPr>
          <a:xfrm>
            <a:off x="-76200" y="407350"/>
            <a:ext cx="9234600" cy="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 SemiBold"/>
              <a:buNone/>
              <a:defRPr sz="1500">
                <a:solidFill>
                  <a:schemeClr val="lt1"/>
                </a:solidFill>
                <a:latin typeface="Gothic A1 SemiBold"/>
                <a:ea typeface="Gothic A1 SemiBold"/>
                <a:cs typeface="Gothic A1 SemiBold"/>
                <a:sym typeface="Gothic A1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othic A1"/>
              <a:buNone/>
              <a:defRPr sz="15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35" name="Google Shape;35;p4"/>
          <p:cNvSpPr txBox="1"/>
          <p:nvPr/>
        </p:nvSpPr>
        <p:spPr>
          <a:xfrm>
            <a:off x="-28950" y="4841725"/>
            <a:ext cx="917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Name, Yonsei University</a:t>
            </a:r>
            <a:endParaRPr sz="1200">
              <a:solidFill>
                <a:srgbClr val="FFFFFF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"/>
              <a:buNone/>
              <a:defRPr sz="2800">
                <a:solidFill>
                  <a:schemeClr val="dk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thic A1"/>
              <a:buChar char="●"/>
              <a:defRPr sz="18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○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■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●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○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■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●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○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thic A1"/>
              <a:buChar char="■"/>
              <a:defRPr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ctrTitle"/>
          </p:nvPr>
        </p:nvSpPr>
        <p:spPr>
          <a:xfrm>
            <a:off x="311700" y="1585562"/>
            <a:ext cx="8520600" cy="8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311700" y="2561013"/>
            <a:ext cx="85206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2" type="ctrTitle"/>
          </p:nvPr>
        </p:nvSpPr>
        <p:spPr>
          <a:xfrm>
            <a:off x="3284300" y="3174425"/>
            <a:ext cx="5859600" cy="16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>
            <p:ph idx="3" type="subTitle"/>
          </p:nvPr>
        </p:nvSpPr>
        <p:spPr>
          <a:xfrm>
            <a:off x="0" y="700325"/>
            <a:ext cx="50055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21725" y="3269500"/>
            <a:ext cx="1602900" cy="16842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폰트는</a:t>
            </a:r>
            <a:endParaRPr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Gothic A1</a:t>
            </a:r>
            <a:endParaRPr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으로 통일</a:t>
            </a:r>
            <a:endParaRPr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0" y="3632875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8595308" y="4826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2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‹#›</a:t>
            </a:fld>
            <a:endParaRPr sz="12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-76200" y="-40550"/>
            <a:ext cx="9234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>
            <p:ph idx="2" type="title"/>
          </p:nvPr>
        </p:nvSpPr>
        <p:spPr>
          <a:xfrm>
            <a:off x="-76200" y="407350"/>
            <a:ext cx="9234600" cy="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 txBox="1"/>
          <p:nvPr/>
        </p:nvSpPr>
        <p:spPr>
          <a:xfrm>
            <a:off x="8595308" y="4826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12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‹#›</a:t>
            </a:fld>
            <a:endParaRPr sz="12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128825" y="828125"/>
            <a:ext cx="8879100" cy="39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 txBox="1"/>
          <p:nvPr/>
        </p:nvSpPr>
        <p:spPr>
          <a:xfrm>
            <a:off x="0" y="4680850"/>
            <a:ext cx="9144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Gothic A1"/>
                <a:ea typeface="Gothic A1"/>
                <a:cs typeface="Gothic A1"/>
                <a:sym typeface="Gothic A1"/>
              </a:rPr>
              <a:t>source: https://cvpr2023.thecvf.com/media/cvpr-2023/Slides/23302.pdf </a:t>
            </a:r>
            <a:endParaRPr sz="600"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